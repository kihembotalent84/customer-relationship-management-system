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4.png"/><Relationship Id="rId7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2C39A">
              <a:alpha val="18039"/>
            </a:srgbClr>
          </a:solidFill>
          <a:ln cap="flat" cmpd="sng" w="12700">
            <a:solidFill>
              <a:srgbClr val="02C39A">
                <a:alpha val="1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7772400" y="2560320"/>
            <a:ext cx="1828800" cy="1828800"/>
          </a:xfrm>
          <a:prstGeom prst="ellipse">
            <a:avLst/>
          </a:prstGeom>
          <a:solidFill>
            <a:srgbClr val="028090">
              <a:alpha val="25098"/>
            </a:srgbClr>
          </a:solidFill>
          <a:ln cap="flat" cmpd="sng" w="12700">
            <a:solidFill>
              <a:srgbClr val="028090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64008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548640" y="1691640"/>
            <a:ext cx="7772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RELATION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SHIP </a:t>
            </a: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MANAGEMENT DATABASE SYSTEM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2331720"/>
            <a:ext cx="7772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For an Online Shopping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48640" y="295251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Database Systems Project  |  Year 1 Semester 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365760" y="960120"/>
            <a:ext cx="3840600" cy="35661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502920" y="114300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02920" y="1600200"/>
            <a:ext cx="35661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 MySQL-based Customer Relationship Management system purpose-built for an e-commerce platform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 manages the complete customer journey — from registration and browsing to purchase, payment, and after-sales support.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system follows the full database development lifecycle: requirements → design → implementation → testing.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937760" y="960120"/>
            <a:ext cx="3840600" cy="35661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074920" y="1143000"/>
            <a:ext cx="3566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USERS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16459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5532120" y="1600200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Online Shoppers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532120" y="1856232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Register, browse, and purchase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2395728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5532120" y="2350008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 Agents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532120" y="2606040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Manage tickets &amp; customer history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4920" y="3145536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4"/>
          <p:cNvSpPr/>
          <p:nvPr/>
        </p:nvSpPr>
        <p:spPr>
          <a:xfrm>
            <a:off x="5532120" y="3099816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Warehouse Staff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532120" y="33558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Track inventory and fulfilment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" name="Google Shape;4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74920" y="3895344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>
            <a:off x="5532120" y="3849624"/>
            <a:ext cx="301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Management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532120" y="4078231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Business intelligence reports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1" name="Google Shape;51;p5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CASE &amp; BENEFITS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365760" y="914400"/>
            <a:ext cx="1965960" cy="1188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" name="Google Shape;53;p5"/>
          <p:cNvSpPr/>
          <p:nvPr/>
        </p:nvSpPr>
        <p:spPr>
          <a:xfrm>
            <a:off x="365760" y="96012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libri"/>
              <a:buNone/>
            </a:pPr>
            <a:r>
              <a:rPr b="1" lang="en-US" sz="160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365760" y="15727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Faster Order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Processing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2514600" y="914400"/>
            <a:ext cx="1965960" cy="1188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6" name="Google Shape;56;p5"/>
          <p:cNvSpPr/>
          <p:nvPr/>
        </p:nvSpPr>
        <p:spPr>
          <a:xfrm>
            <a:off x="2514600" y="96012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2514600" y="15727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Fewer Duplicate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Records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663440" y="914400"/>
            <a:ext cx="1965960" cy="1188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9" name="Google Shape;59;p5"/>
          <p:cNvSpPr/>
          <p:nvPr/>
        </p:nvSpPr>
        <p:spPr>
          <a:xfrm>
            <a:off x="4663440" y="96012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663440" y="15727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lang="en-US" sz="1600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Improved sales through customer tracking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812280" y="914400"/>
            <a:ext cx="1965960" cy="11887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2" name="Google Shape;62;p5"/>
          <p:cNvSpPr/>
          <p:nvPr/>
        </p:nvSpPr>
        <p:spPr>
          <a:xfrm>
            <a:off x="6812280" y="96012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200"/>
              <a:buFont typeface="Calibri"/>
              <a:buNone/>
            </a:pPr>
            <a:r>
              <a:rPr b="1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6812280" y="1572768"/>
            <a:ext cx="1965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ECBDB"/>
              </a:buClr>
              <a:buSzPts val="1000"/>
              <a:buFont typeface="Calibri"/>
              <a:buNone/>
            </a:pPr>
            <a:r>
              <a:rPr b="0" i="0" lang="en-US" sz="1600" u="none" cap="none" strike="noStrike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Satisfaction </a:t>
            </a:r>
            <a:r>
              <a:rPr lang="en-US" sz="1600">
                <a:solidFill>
                  <a:srgbClr val="9ECBDB"/>
                </a:solidFill>
                <a:latin typeface="Calibri"/>
                <a:ea typeface="Calibri"/>
                <a:cs typeface="Calibri"/>
                <a:sym typeface="Calibri"/>
              </a:rPr>
              <a:t>and REtention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5760" y="2331720"/>
            <a:ext cx="2651760" cy="24688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5" name="Google Shape;65;p5"/>
          <p:cNvSpPr/>
          <p:nvPr/>
        </p:nvSpPr>
        <p:spPr>
          <a:xfrm>
            <a:off x="365760" y="2331720"/>
            <a:ext cx="2651760" cy="347472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6" name="Google Shape;66;p5"/>
          <p:cNvSpPr/>
          <p:nvPr/>
        </p:nvSpPr>
        <p:spPr>
          <a:xfrm>
            <a:off x="365760" y="23317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Tangible Benefits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48500" y="2980950"/>
            <a:ext cx="2469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Reduce order processing time by 40%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Fewer data entry errors via referential integrity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Faster payment tracking and recovery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lang="en-U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Faster response to inquiries and complaints.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200400" y="2331720"/>
            <a:ext cx="2651760" cy="24688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69" name="Google Shape;69;p5"/>
          <p:cNvSpPr/>
          <p:nvPr/>
        </p:nvSpPr>
        <p:spPr>
          <a:xfrm>
            <a:off x="3200400" y="2331720"/>
            <a:ext cx="2651760" cy="347472"/>
          </a:xfrm>
          <a:prstGeom prst="rect">
            <a:avLst/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0" name="Google Shape;70;p5"/>
          <p:cNvSpPr/>
          <p:nvPr/>
        </p:nvSpPr>
        <p:spPr>
          <a:xfrm>
            <a:off x="3200400" y="23317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Intangible Benefits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91840" y="2907800"/>
            <a:ext cx="2469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Improved customer satisfaction &amp; loyalty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Better strategic decision-making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Staff morale from easier data access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Stronger brand reputation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035040" y="2331720"/>
            <a:ext cx="2651760" cy="24688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3" name="Google Shape;73;p5"/>
          <p:cNvSpPr/>
          <p:nvPr/>
        </p:nvSpPr>
        <p:spPr>
          <a:xfrm>
            <a:off x="6035040" y="2331720"/>
            <a:ext cx="2651760" cy="347472"/>
          </a:xfrm>
          <a:prstGeom prst="rect">
            <a:avLst/>
          </a:prstGeom>
          <a:solidFill>
            <a:srgbClr val="E57373"/>
          </a:solidFill>
          <a:ln cap="flat" cmpd="sng" w="12700">
            <a:solidFill>
              <a:srgbClr val="E573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74" name="Google Shape;74;p5"/>
          <p:cNvSpPr/>
          <p:nvPr/>
        </p:nvSpPr>
        <p:spPr>
          <a:xfrm>
            <a:off x="6035040" y="2331720"/>
            <a:ext cx="2651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Costs &amp; Risks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126505" y="2907800"/>
            <a:ext cx="24690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Development &amp; server costs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Staff training and change management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migration from legacy systems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 and adoption risks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ENTITIES &amp; ATTRIBUTES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74320" y="914400"/>
            <a:ext cx="1600200" cy="34747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274320" y="914400"/>
            <a:ext cx="16002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6"/>
          <p:cNvSpPr/>
          <p:nvPr/>
        </p:nvSpPr>
        <p:spPr>
          <a:xfrm>
            <a:off x="27432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365760" y="1828800"/>
            <a:ext cx="141732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365760" y="18288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customer_id (PK)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365760" y="233172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365760" y="2331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name, email, phone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65760" y="283464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365760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057400" y="914400"/>
            <a:ext cx="1600200" cy="34747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2057400" y="914400"/>
            <a:ext cx="16002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176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205740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2148840" y="1828800"/>
            <a:ext cx="141732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148840" y="18288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product_id (PK)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2148840" y="233172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2148840" y="2331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product_name, price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148840" y="283464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2148840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stock_quantity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840480" y="914400"/>
            <a:ext cx="1600200" cy="34747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3840480" y="914400"/>
            <a:ext cx="16002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484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6"/>
          <p:cNvSpPr/>
          <p:nvPr/>
        </p:nvSpPr>
        <p:spPr>
          <a:xfrm>
            <a:off x="384048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931920" y="1828800"/>
            <a:ext cx="141732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3931920" y="18288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order_id (PK)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3931920" y="2331720"/>
            <a:ext cx="1417320" cy="384048"/>
          </a:xfrm>
          <a:prstGeom prst="rect">
            <a:avLst/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3931920" y="2331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customer_id (FK)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3931920" y="283464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3931920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order_date, total_amount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5623560" y="914400"/>
            <a:ext cx="1600200" cy="34747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5623560" y="914400"/>
            <a:ext cx="16002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562356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OrderItem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715000" y="1828800"/>
            <a:ext cx="141732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715000" y="18288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order_item_id (PK)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715000" y="233172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5715000" y="2331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order_id, product_id (FKs)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5715000" y="283464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5715000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quantity, unit_price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7406640" y="914400"/>
            <a:ext cx="1600200" cy="34747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7406640" y="914400"/>
            <a:ext cx="16002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" name="Google Shape;125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01000" y="960120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6"/>
          <p:cNvSpPr/>
          <p:nvPr/>
        </p:nvSpPr>
        <p:spPr>
          <a:xfrm>
            <a:off x="7406640" y="1389888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7498080" y="1828800"/>
            <a:ext cx="1417320" cy="38404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498080" y="182880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payment_id (PK)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498080" y="2331720"/>
            <a:ext cx="1417320" cy="384048"/>
          </a:xfrm>
          <a:prstGeom prst="rect">
            <a:avLst/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498080" y="2331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order_id (FK</a:t>
            </a: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498080" y="2834640"/>
            <a:ext cx="141732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7498080" y="283464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50"/>
              <a:buFont typeface="Calibri"/>
              <a:buNone/>
            </a:pPr>
            <a:r>
              <a:rPr b="0" i="0" lang="en-US" sz="14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amount, method, status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74320" y="4572000"/>
            <a:ext cx="502920" cy="201168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822960" y="45720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2331720" y="4572000"/>
            <a:ext cx="502920" cy="201168"/>
          </a:xfrm>
          <a:prstGeom prst="rect">
            <a:avLst/>
          </a:prstGeom>
          <a:solidFill>
            <a:srgbClr val="5C6BC0"/>
          </a:solidFill>
          <a:ln cap="flat" cmpd="sng" w="12700">
            <a:solidFill>
              <a:srgbClr val="5C6B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2880360" y="45720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Foreign Key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ENTITY RELATIONSHIPS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365760" y="960120"/>
            <a:ext cx="4160520" cy="1143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365760" y="960120"/>
            <a:ext cx="64008" cy="1143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548640" y="10515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Customer → Order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3520440" y="1069848"/>
            <a:ext cx="9144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3520440" y="10698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Many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48640" y="143560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customer places many orders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4800600" y="960120"/>
            <a:ext cx="4160520" cy="1143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4800600" y="960120"/>
            <a:ext cx="64008" cy="1143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4983480" y="105156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 → OrderItem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955280" y="1069848"/>
            <a:ext cx="9144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7955280" y="106984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Many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983480" y="143560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order contains multiple line items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65760" y="2286000"/>
            <a:ext cx="4160400" cy="1143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548640" y="23774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Product → OrderItem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520440" y="2395728"/>
            <a:ext cx="9144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520440" y="23957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Many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276148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6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product appears in many order items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800600" y="2286000"/>
            <a:ext cx="4160520" cy="114300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"/>
          <p:cNvSpPr/>
          <p:nvPr/>
        </p:nvSpPr>
        <p:spPr>
          <a:xfrm>
            <a:off x="4800600" y="2286000"/>
            <a:ext cx="64008" cy="114300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4983480" y="237744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Order → Payment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7955280" y="2395728"/>
            <a:ext cx="914400" cy="25603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7955280" y="2395728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 : Many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4983480" y="2761488"/>
            <a:ext cx="3840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One order may have multiple payment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48640" y="3703320"/>
            <a:ext cx="3291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9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ENTITY-RELATIONSHIP DIAGRAM (ERD)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65760" y="1828800"/>
            <a:ext cx="1645920" cy="5943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65760" y="182880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3291840" y="1828800"/>
            <a:ext cx="1645920" cy="5943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3291840" y="182880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6217920" y="1828800"/>
            <a:ext cx="182880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6217920" y="182880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3291840" y="3474720"/>
            <a:ext cx="1645920" cy="59436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3291840" y="3474720"/>
            <a:ext cx="1645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ORDERITEM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6217920" y="3474720"/>
            <a:ext cx="1828800" cy="59436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"/>
          <p:cNvSpPr/>
          <p:nvPr/>
        </p:nvSpPr>
        <p:spPr>
          <a:xfrm>
            <a:off x="6217920" y="347472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2011680" y="2125980"/>
            <a:ext cx="1280160" cy="0"/>
          </a:xfrm>
          <a:prstGeom prst="straightConnector1">
            <a:avLst/>
          </a:prstGeom>
          <a:noFill/>
          <a:ln cap="flat" cmpd="sng" w="254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" name="Google Shape;186;p8"/>
          <p:cNvSpPr/>
          <p:nvPr/>
        </p:nvSpPr>
        <p:spPr>
          <a:xfrm>
            <a:off x="2331720" y="19202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1:M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8"/>
          <p:cNvCxnSpPr/>
          <p:nvPr/>
        </p:nvCxnSpPr>
        <p:spPr>
          <a:xfrm>
            <a:off x="4937760" y="2125980"/>
            <a:ext cx="128016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8"/>
          <p:cNvSpPr/>
          <p:nvPr/>
        </p:nvSpPr>
        <p:spPr>
          <a:xfrm>
            <a:off x="5212080" y="19202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1:M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8"/>
          <p:cNvCxnSpPr/>
          <p:nvPr/>
        </p:nvCxnSpPr>
        <p:spPr>
          <a:xfrm>
            <a:off x="4114800" y="2423160"/>
            <a:ext cx="0" cy="105156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8"/>
          <p:cNvSpPr/>
          <p:nvPr/>
        </p:nvSpPr>
        <p:spPr>
          <a:xfrm>
            <a:off x="4206240" y="283464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1:M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1" name="Google Shape;191;p8"/>
          <p:cNvCxnSpPr/>
          <p:nvPr/>
        </p:nvCxnSpPr>
        <p:spPr>
          <a:xfrm>
            <a:off x="4937760" y="3771900"/>
            <a:ext cx="1280160" cy="0"/>
          </a:xfrm>
          <a:prstGeom prst="straightConnector1">
            <a:avLst/>
          </a:prstGeom>
          <a:noFill/>
          <a:ln cap="flat" cmpd="sng" w="254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8"/>
          <p:cNvSpPr/>
          <p:nvPr/>
        </p:nvSpPr>
        <p:spPr>
          <a:xfrm>
            <a:off x="5212080" y="3566160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M:1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PHYSICAL DESIGN — SQL SCHEMA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365760" y="914400"/>
            <a:ext cx="4846320" cy="393192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1E203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502920" y="1051560"/>
            <a:ext cx="4572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CREATE TABLE Customer 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customerID INT AUTO_INCREMENT PK,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name       VARCHAR(100),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email      VARCHAR(100),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phone      VARCHAR(20),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address    VARCHAR(255)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CREATE TABLE `Order` 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order_id    INT AUTO_INCREMENT PK,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customer_id INT NOT NULL FK,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order_date  DATETIME DEFAULT NOW(),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total_amount DECIMAL(10,2) NOT NULL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CREATE TABLE Payment (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payment_id   INT AUTO_INCREMENT PK,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order_id     INT NOT NULL FK,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payment_date DATETIME DEFAULT NOW(),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  amount       DECIMAL(10,2) NOT NULL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950"/>
              <a:buFont typeface="Consolas"/>
              <a:buNone/>
            </a:pPr>
            <a:r>
              <a:rPr b="0" i="0" lang="en-US" sz="125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5394960" y="960120"/>
            <a:ext cx="3474720" cy="6400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5394960" y="960120"/>
            <a:ext cx="54864" cy="6400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5532120" y="996696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InnoDB Engine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532120" y="126187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4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nables foreign key constraints and ACID transactions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394960" y="1709928"/>
            <a:ext cx="3474720" cy="6400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5394960" y="1709928"/>
            <a:ext cx="54864" cy="6400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532120" y="1746504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AUTO_INCREMENT PKs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5532120" y="2011680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Automatically generates unique integer primary key</a:t>
            </a: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5394960" y="2459736"/>
            <a:ext cx="3474720" cy="6400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5394960" y="2459736"/>
            <a:ext cx="54864" cy="6400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5532120" y="2496312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Referential Integrity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532120" y="2761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Foreign keys enforce valid relationships between tables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5394960" y="3209544"/>
            <a:ext cx="3474720" cy="6400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9"/>
          <p:cNvSpPr/>
          <p:nvPr/>
        </p:nvSpPr>
        <p:spPr>
          <a:xfrm>
            <a:off x="5394960" y="3209544"/>
            <a:ext cx="54864" cy="6400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5532120" y="3246120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DECIMAL(10,2)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532120" y="3511296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Accurate currency storage — avoids float rounding errors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394960" y="3959352"/>
            <a:ext cx="3474720" cy="64008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>
            <a:off x="5394960" y="3959352"/>
            <a:ext cx="54864" cy="64008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5532120" y="3995928"/>
            <a:ext cx="3246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DEFAULT CURRENT_TIMESTAMP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532120" y="426110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15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Automatic timestamps on orders and payments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28090"/>
          </a:solidFill>
          <a:ln cap="flat" cmpd="sng" w="12700">
            <a:solidFill>
              <a:srgbClr val="0280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10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SQL QUERIES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320040" y="914400"/>
            <a:ext cx="4206240" cy="18745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0" name="Google Shape;230;p10"/>
          <p:cNvSpPr/>
          <p:nvPr/>
        </p:nvSpPr>
        <p:spPr>
          <a:xfrm>
            <a:off x="320040" y="914400"/>
            <a:ext cx="4206240" cy="3474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1" name="Google Shape;231;p10"/>
          <p:cNvSpPr/>
          <p:nvPr/>
        </p:nvSpPr>
        <p:spPr>
          <a:xfrm>
            <a:off x="411480" y="9509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Q1 — Customers &amp; Their Orders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11480" y="129844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1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See which customers placed which orders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11480" y="1527048"/>
            <a:ext cx="4023360" cy="114300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1E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4" name="Google Shape;234;p10"/>
          <p:cNvSpPr/>
          <p:nvPr/>
        </p:nvSpPr>
        <p:spPr>
          <a:xfrm>
            <a:off x="484632" y="1572768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 c.name, o.order_id, o.total_amount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 Customer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JOIN `Order` o ON c.customerID = o.customer_id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WHERE o.status != 'Cancelled';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4800600" y="914400"/>
            <a:ext cx="4206240" cy="18745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6" name="Google Shape;236;p10"/>
          <p:cNvSpPr/>
          <p:nvPr/>
        </p:nvSpPr>
        <p:spPr>
          <a:xfrm>
            <a:off x="4800600" y="914400"/>
            <a:ext cx="4206240" cy="3474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7" name="Google Shape;237;p10"/>
          <p:cNvSpPr/>
          <p:nvPr/>
        </p:nvSpPr>
        <p:spPr>
          <a:xfrm>
            <a:off x="4892040" y="95097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Q2 — Total Sales Revenue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4892040" y="129844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1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Track overall business progress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4892040" y="1527048"/>
            <a:ext cx="4023360" cy="114300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1E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0" name="Google Shape;240;p10"/>
          <p:cNvSpPr/>
          <p:nvPr/>
        </p:nvSpPr>
        <p:spPr>
          <a:xfrm>
            <a:off x="4965192" y="1572768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 SUM(amountPaid) AS TotalSales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 Payment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WHERE paymentStatus = 'Paid';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20040" y="2926080"/>
            <a:ext cx="4206240" cy="18745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2" name="Google Shape;242;p10"/>
          <p:cNvSpPr/>
          <p:nvPr/>
        </p:nvSpPr>
        <p:spPr>
          <a:xfrm>
            <a:off x="320040" y="2926080"/>
            <a:ext cx="4206240" cy="3474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3" name="Google Shape;243;p10"/>
          <p:cNvSpPr/>
          <p:nvPr/>
        </p:nvSpPr>
        <p:spPr>
          <a:xfrm>
            <a:off x="411480" y="2962656"/>
            <a:ext cx="4023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Q3 — Payment Status Report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11480" y="331012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1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Which customers paid and when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11480" y="3538728"/>
            <a:ext cx="4023360" cy="114300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1E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6" name="Google Shape;246;p10"/>
          <p:cNvSpPr/>
          <p:nvPr/>
        </p:nvSpPr>
        <p:spPr>
          <a:xfrm>
            <a:off x="484632" y="3584448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 paymentMethod, paymentStatus, amountPaid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 Payment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ORDER BY paymentDate DESC;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4800600" y="2926080"/>
            <a:ext cx="4206240" cy="1874520"/>
          </a:xfrm>
          <a:prstGeom prst="rect">
            <a:avLst/>
          </a:prstGeom>
          <a:solidFill>
            <a:srgbClr val="F4F6F9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10"/>
          <p:cNvSpPr/>
          <p:nvPr/>
        </p:nvSpPr>
        <p:spPr>
          <a:xfrm>
            <a:off x="4800600" y="2926080"/>
            <a:ext cx="4206240" cy="3474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9" name="Google Shape;249;p10"/>
          <p:cNvSpPr/>
          <p:nvPr/>
        </p:nvSpPr>
        <p:spPr>
          <a:xfrm>
            <a:off x="4892040" y="2962656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Q4 — Failed Payments Follow-up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4892040" y="331012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950"/>
              <a:buFont typeface="Calibri"/>
              <a:buNone/>
            </a:pPr>
            <a:r>
              <a:rPr b="0" i="1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Finance team recovers outstanding revenue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4892040" y="3538728"/>
            <a:ext cx="4023360" cy="1143000"/>
          </a:xfrm>
          <a:prstGeom prst="rect">
            <a:avLst/>
          </a:prstGeom>
          <a:solidFill>
            <a:srgbClr val="1E2030"/>
          </a:solidFill>
          <a:ln cap="flat" cmpd="sng" w="12700">
            <a:solidFill>
              <a:srgbClr val="1E20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10"/>
          <p:cNvSpPr/>
          <p:nvPr/>
        </p:nvSpPr>
        <p:spPr>
          <a:xfrm>
            <a:off x="4965192" y="3584448"/>
            <a:ext cx="3886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SELECT c.name, c.email, p.amount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FROM Payment 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JOIN `Order` o ON p.order_id = o.order_id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JOIN Customer c ON o.customer_id = c.customerID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FF78"/>
              </a:buClr>
              <a:buSzPts val="850"/>
              <a:buFont typeface="Consolas"/>
              <a:buNone/>
            </a:pPr>
            <a:r>
              <a:rPr b="0" i="0" lang="en-US" sz="1200" u="none" cap="none" strike="noStrike">
                <a:solidFill>
                  <a:srgbClr val="A8FF78"/>
                </a:solidFill>
                <a:latin typeface="Consolas"/>
                <a:ea typeface="Consolas"/>
                <a:cs typeface="Consolas"/>
                <a:sym typeface="Consolas"/>
              </a:rPr>
              <a:t>WHERE p.status = 'Failed';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59" name="Google Shape;259;p11"/>
          <p:cNvSpPr/>
          <p:nvPr/>
        </p:nvSpPr>
        <p:spPr>
          <a:xfrm>
            <a:off x="411480" y="9144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LIMITATIONS &amp; FUTURE IMPROVEMENTS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365760" y="914400"/>
            <a:ext cx="3931920" cy="3749040"/>
          </a:xfrm>
          <a:prstGeom prst="rect">
            <a:avLst/>
          </a:prstGeom>
          <a:solidFill>
            <a:srgbClr val="FFF3F3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1" name="Google Shape;261;p11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E57373"/>
          </a:solidFill>
          <a:ln cap="flat" cmpd="sng" w="12700">
            <a:solidFill>
              <a:srgbClr val="E573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2" name="Google Shape;262;p11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Current Limitations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48640" y="1371600"/>
            <a:ext cx="3566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real payment gateway integration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recommendation engine — ML needed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live inventory warehouse sync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Front-end UI is out of scope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Tested with synthetic data only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automated delivery tracking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846320" y="914400"/>
            <a:ext cx="3931920" cy="374904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5" name="Google Shape;265;p11"/>
          <p:cNvSpPr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solidFill>
            <a:srgbClr val="2E7D32"/>
          </a:solidFill>
          <a:ln cap="flat" cmpd="sng" w="12700">
            <a:solidFill>
              <a:srgbClr val="2E7D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66" name="Google Shape;266;p11"/>
          <p:cNvSpPr/>
          <p:nvPr/>
        </p:nvSpPr>
        <p:spPr>
          <a:xfrm>
            <a:off x="4846320" y="914400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Future Improvements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5029200" y="1371600"/>
            <a:ext cx="35661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Integrate real payment APIs (MTN, Airtel)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Build web-based front-end portal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 ML product recommendation engine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warehouse inventory sync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 order status notifications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Migrate from MySQL to cloud database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4901"/>
            </a:srgbClr>
          </a:solidFill>
          <a:ln cap="flat" cmpd="sng" w="12700">
            <a:solidFill>
              <a:srgbClr val="028090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2C39A">
              <a:alpha val="12156"/>
            </a:srgbClr>
          </a:solidFill>
          <a:ln cap="flat" cmpd="sng" w="12700">
            <a:solidFill>
              <a:srgbClr val="02C39A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1097280" y="1188720"/>
            <a:ext cx="6949440" cy="56692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1289304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2"/>
          <p:cNvSpPr/>
          <p:nvPr/>
        </p:nvSpPr>
        <p:spPr>
          <a:xfrm>
            <a:off x="1737360" y="1229866"/>
            <a:ext cx="6126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fully normalised MySQL CRM database covering 5 core entities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1097280" y="1901952"/>
            <a:ext cx="6949440" cy="56692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0" name="Google Shape;28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440" y="2002536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/>
          <p:nvPr/>
        </p:nvSpPr>
        <p:spPr>
          <a:xfrm>
            <a:off x="1737360" y="1984248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Supports the full customer journey from registration to post-sale suppor</a:t>
            </a: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2"/>
          <p:cNvSpPr/>
          <p:nvPr/>
        </p:nvSpPr>
        <p:spPr>
          <a:xfrm>
            <a:off x="1097280" y="2615184"/>
            <a:ext cx="6949440" cy="56692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3" name="Google Shape;283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4440" y="2715768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2"/>
          <p:cNvSpPr/>
          <p:nvPr/>
        </p:nvSpPr>
        <p:spPr>
          <a:xfrm>
            <a:off x="1737360" y="2697480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SQL queries deliver actionable reports: sales, payments, failed transactions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1097280" y="3328416"/>
            <a:ext cx="6949440" cy="56692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4440" y="342900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2"/>
          <p:cNvSpPr/>
          <p:nvPr/>
        </p:nvSpPr>
        <p:spPr>
          <a:xfrm>
            <a:off x="1737360" y="3410712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Referential integrity and ACID transactions ensure data accuracy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2"/>
          <p:cNvSpPr/>
          <p:nvPr/>
        </p:nvSpPr>
        <p:spPr>
          <a:xfrm>
            <a:off x="1097280" y="4041648"/>
            <a:ext cx="6949440" cy="566928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9" name="Google Shape;289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4440" y="41422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/>
          <p:nvPr/>
        </p:nvSpPr>
        <p:spPr>
          <a:xfrm>
            <a:off x="1737360" y="4123944"/>
            <a:ext cx="61264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for future marketing analytics and recommendation features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